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7" r:id="rId11"/>
    <p:sldId id="264" r:id="rId12"/>
    <p:sldId id="265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7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5B19C-E3B8-4EF5-99AE-5097E35D177C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D551D-B02C-4B75-B9B4-A44DF36A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6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D551D-B02C-4B75-B9B4-A44DF36ADE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4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0F03E-A155-C78A-97CB-980465FA6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464FC-940F-AA3D-DC93-3775EAEC5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B10A-CF75-BEAE-9E3F-1C54524F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694A0-DDAE-ED31-192D-55FB5F0C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1A313-8742-A914-77B0-A20A3065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2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8C21-9CF7-768F-8057-370E3C15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226C-8E1B-F45C-1360-ED2355D8F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BA6C-DF8B-B257-A04B-E365F1E7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1EE3B-B9EA-96EC-C6DE-C3F4B3B5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91230-DBE7-8DA2-E45C-01F64D8A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1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9BD1-334E-6D58-18A9-B1CF155B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BF248-143F-9AEC-5772-D824D950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25F23-B69E-2D17-3501-98F6CDDF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18139-BA1B-BEF7-F06B-421E1B8F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321DF-1C98-2E2B-8CBF-8B2A2102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7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D336-288B-613A-A85D-6486A4A6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B2CE-1A4D-1474-3927-02D6350FA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B33B0-0906-81F6-6060-2CD1787B6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34D31-5303-3791-0D4A-58D3619E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1B035-5E3C-BCD4-E940-7CA2B53B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47A36-9B66-831A-CCEF-9F52035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9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5606-225D-784B-C524-90F7EC45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4B946-E8D6-2A1A-A7AE-5F515414D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2F2A9-53D5-27B1-CC6B-7A2827D5E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5050F-90EF-ED61-06F2-7CFA49430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25F1D-4495-1989-CF95-44781D957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AD652-A15C-83BD-24C4-57F4FD448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1BAB9-75EA-3261-A68C-C2F497C9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838D8-EA3C-4449-F573-0B89DF4B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3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535E8-8A7E-8685-22D4-567EB0AC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3B122-1480-3D71-DA06-FAEF8989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EDA8-0052-8FC8-1921-FBE8EE268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444D1-8377-9AFF-EB7B-88769BBC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8C20A-48CD-2ED5-632A-3A1DAB7A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2B80D-A28A-4157-DFD7-43A4FCB2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66060-0076-CEF5-7151-7A40101A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1080-A21F-4299-DA7E-40828FCC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D218-E8D9-6610-462E-5A3155C5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BB66B-5468-0A6E-AAF3-FCB114F2A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20D7-D7E5-7143-0C7F-DBDB0C05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97DA-B175-F10B-C3F5-FD8B0E2F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BFB0C-DD30-F64E-3371-42B1C770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0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3B09-1A31-531C-87D3-93B3DCCE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B7216-8351-1730-F78C-BCE476509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CA6C1-F185-425D-E121-3A7B4BDB2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03AF4-E22E-033E-4F52-24472623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4E02E-6234-449A-6B32-2620EA0A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03C11-1791-7AE8-3E73-70D53EB1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6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AAE8-CE17-40B3-6F12-8B5FBFCF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FB0DA-BAB2-DF64-7604-353F1F678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3DBBB-8CBA-503A-53E9-6D474AB7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53074-B9D8-C920-9775-6623D7A8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CA942-CC89-6452-7BBA-5EDD59FDF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5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AC897-818F-779C-526B-E1814CF3A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0D4A7-95B9-4FCC-6C82-3CA87E40E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92C12-CBDF-03A9-CE79-2010BBBF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BA00-278C-CCCF-B800-74AB1D61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902EF-F9D3-5212-5DFA-111DCEE9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48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940">
              <a:srgbClr val="DFE7F5"/>
            </a:gs>
            <a:gs pos="55952">
              <a:srgbClr val="BECEEA"/>
            </a:gs>
            <a:gs pos="46779">
              <a:srgbClr val="C7D5ED"/>
            </a:gs>
            <a:gs pos="33969">
              <a:srgbClr val="D4DFF1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29578-C55E-87E5-ED9B-36E9D011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E3328-56FF-D262-43EE-1F293B2E0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3A3F-BEAF-9FC9-3CCA-9AD8615F9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D3522-466D-4ECC-A763-0D01D2A02801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F1A4-3960-7899-2A0D-1FFAC31CA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8F28D-6F74-1E5C-431D-1DE0512D0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1E87-BF4A-41E7-83A3-EB236DDBFE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8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1FB6-8794-3E8B-BE9B-4A253774C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RECURSIVE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92A4A-E58B-0317-1572-A13FB98E05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GROUP 12</a:t>
            </a:r>
          </a:p>
        </p:txBody>
      </p:sp>
    </p:spTree>
    <p:extLst>
      <p:ext uri="{BB962C8B-B14F-4D97-AF65-F5344CB8AC3E}">
        <p14:creationId xmlns:p14="http://schemas.microsoft.com/office/powerpoint/2010/main" val="2048877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37D8B-B211-B4CA-5AB1-7300305D7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CFF6E95C-4143-5AD7-44D9-E1EF14B81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613" y="2114418"/>
            <a:ext cx="10406774" cy="377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4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33E14C-49A1-40F5-FCC5-6F13B6F72C03}"/>
              </a:ext>
            </a:extLst>
          </p:cNvPr>
          <p:cNvSpPr txBox="1"/>
          <p:nvPr/>
        </p:nvSpPr>
        <p:spPr>
          <a:xfrm>
            <a:off x="636813" y="424543"/>
            <a:ext cx="9519557" cy="5291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b="1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NEWTON RASPHON METHOD USING RECURSION</a:t>
            </a:r>
            <a:endParaRPr lang="en-US" sz="3600" dirty="0">
              <a:solidFill>
                <a:srgbClr val="D55000"/>
              </a:solidFill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root_N=NRM_recursive(f,df,x0,tol,maxIter,iter) 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nargin&lt;6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iter=0;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x1=x0-f(x0)/df(x0);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new root approximation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abs(x1-x0)&lt;tol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checking for convergence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root_N = x1;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root_N=NRM_recursive(f,df,x1,tol,maxIter,iter + 1);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call for the function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f=@(x)x^3-x-2;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function whose root is required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df=@(x)3*x^2-1;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derivative of the function whose root is required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x0=1.5;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tol=10^-6;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tolerance for the absolute error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maxIter=50;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iter=0:50;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root_N=NRM_recursive(f,df,x0,tol,maxIter,iter)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0404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root_N = 1.5214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15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30F6C7-13FE-6038-3301-4EA9A1EDF1D8}"/>
              </a:ext>
            </a:extLst>
          </p:cNvPr>
          <p:cNvSpPr txBox="1"/>
          <p:nvPr/>
        </p:nvSpPr>
        <p:spPr>
          <a:xfrm>
            <a:off x="506186" y="391886"/>
            <a:ext cx="9699171" cy="6802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BISECTION METHOD USING RECURSION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root_B=bisect_recursive(f,a,b,tol,maxiter,iter)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nargin&lt;6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iter=0;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validate inputs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iter&gt;=maxiter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error(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lang="en-US" sz="1800" dirty="0" err="1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maxiter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exceeded.'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c=(a+b)/2;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midpoint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fc=f(c);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abs(fc)&lt;tol || (a+b)/2&lt;tol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 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root_B=c;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call for the function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f(a)*f(c)&lt;0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root_B=bisect_recursive(f,a,c,tol,maxiter,iter+1);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root_B=bisect_recursive(f,c,b,tol,maxiter,iter+1); 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f=@(x)x^3-x-2;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a=1;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b=2;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tol=10^-6;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maxiter=50;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iter=0:50;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root_B=bisect_recursive(f,a,b,tol,maxiter,iter);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"root_B = %0.4f\n"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,root_B);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root_B = 1.5214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1897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E40E91-EE60-1959-E20A-240B03EB43FC}"/>
              </a:ext>
            </a:extLst>
          </p:cNvPr>
          <p:cNvSpPr txBox="1"/>
          <p:nvPr/>
        </p:nvSpPr>
        <p:spPr>
          <a:xfrm>
            <a:off x="898071" y="604157"/>
            <a:ext cx="8250010" cy="5634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SECANT METHOD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root_S=secant_recusive(f,x0,x1,tol,maxiter,iter)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nargin&lt;6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iter=0;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f0=f(x0);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f1=f(x1);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abs(f1-f0)==0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validate inputs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error(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'denominator is zero.'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x2=x1-f1*((x1-x0)/(f1-f0));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new root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abs(x2-x1)&lt;tol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root_S=x2;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root_S=secant_recusive(f,x1,x2,tol,maxiter,iter+1);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call for the function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f=@(x)x^3-x-2;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x0=1;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x1=2;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tol=10^-6;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maxiter=50;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iter=0:50;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root_S=secant_recusive(f,x0,x1,tol,maxiter,iter);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"root_S = %0.4f\n"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,root_S);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root_S = 1.5214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55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0D0CB8-61F5-C87D-3518-1DF0EFF32DFC}"/>
              </a:ext>
            </a:extLst>
          </p:cNvPr>
          <p:cNvSpPr txBox="1"/>
          <p:nvPr/>
        </p:nvSpPr>
        <p:spPr>
          <a:xfrm>
            <a:off x="326571" y="146956"/>
            <a:ext cx="8821510" cy="6110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FIXED ITERATION METHOD USING RECURSION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root_F=fixediter_recursive(g,x0,tol,toc,maxiter,iter)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tic;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nargin&lt;6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iter=0;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x1=g(x0);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new root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abs(x1-x0)&lt;tol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root_F=x1;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root_F=fixediter_recursive(g,x1,tol,toc,maxiter,iter+1);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call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g=@(x)(x+2).^(1/3);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x0=1.5;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tol=10^-6;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maxiter=50;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iter=0:50;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root_F=fixediter_recursive(g,x0,tol,toc,maxiter,iter)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0404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root_F = 1.5214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75950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DF45E89-E33F-3CC3-2698-487CBF25D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769" y="-127785"/>
            <a:ext cx="11792764" cy="701730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SOLVING ODEs USING RECURSION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EULER'S METHOD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[T,Y] = euler_recursive(f, t0, tN, y0, N)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f: function handle f(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t,y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t0,tN: time interval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y0: initial value (scalar or column vector)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N: number of steps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 = (tN - t0)/N;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 = zeros(N+1,1);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zeros(numel(y0), N+1);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T(1) = t0;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Y(:,1) = y0;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helper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step(k)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 &gt; N,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 = T(k);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 = Y(:,k);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ynext = y + h * f(t,y);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T(k+1) = t + h;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Y(:,k+1) = ynext;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step(k+1);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step(1);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 = @(t,y) -2*y;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[T,Y] = euler_recursive(f, 0, 2, 1, 100);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plot(T, Y)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36F8DA9-806D-9A58-BD96-89B687F92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133" y="4235838"/>
            <a:ext cx="3148390" cy="225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726C8D29-7285-B134-C47C-B5207E753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16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D1427A0-4292-7645-45F9-EBCDC6EFB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6357"/>
            <a:ext cx="13191067" cy="618630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SOLVING ODEs USING RECURSION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EULER'S METHOD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[T,Y] = euler_recursive(f, t0, tN, y0, N)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f: function handle f(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t,y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t0,tN: time interval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y0: initial value (scalar or column vector)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N: number of steps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 = (tN - t0)/N;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 = zeros(N+1,1);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 = zeros(numel(y0), N+1);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T(1) = t0;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Y(:,1) = y0;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helper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step(k)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 &gt; N,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 = T(k);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 = Y(:,k);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ynext = y + h * f(t,y);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T(k+1) = t + h;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Y(:,k+1) = ynext;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step(k+1);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step(1);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 = @(t,y) -2*y;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[T,Y] = euler_recursive(f, 0, 2, 1, 100);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plot(T, Y)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E608EFEC-CF66-8186-1E37-4E318637E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4064000"/>
            <a:ext cx="40005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55FEC98-E7C1-4837-39E3-DD64B7C40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E67F6D-4690-ECAD-5860-C229E82F9327}"/>
              </a:ext>
            </a:extLst>
          </p:cNvPr>
          <p:cNvSpPr txBox="1"/>
          <p:nvPr/>
        </p:nvSpPr>
        <p:spPr>
          <a:xfrm>
            <a:off x="355600" y="626533"/>
            <a:ext cx="8788400" cy="428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FIBONACCI PROBLEM BY RECUSIVE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g=fibonacci_recursive(n)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n==0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g=0;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%Base case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n==1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g=1;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g=fibonacci_recursive(n-1)+fibonacci_recursive(n-2);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recursive call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n=25;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g=fibonacci_recursive(n);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'value of g is %d'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,g)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 of g is 75025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23260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C1B1DA-43BE-C4E4-82FF-DC27A48B5E82}"/>
              </a:ext>
            </a:extLst>
          </p:cNvPr>
          <p:cNvSpPr txBox="1"/>
          <p:nvPr/>
        </p:nvSpPr>
        <p:spPr>
          <a:xfrm>
            <a:off x="389467" y="1134533"/>
            <a:ext cx="8754533" cy="538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FIBONACCI PROBLEM BY DYNAMIC PROGRAMMING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fibonacci_DP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(n)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n==0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DP table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T=zeros(1,n+1);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T(1)=0;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T(2)=1;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k=3:n+1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T(k)=T(k-1) + T(k-2);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f=T(n+1);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n=25;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f=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fibonacci_DP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(n);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"result of f = %d\</a:t>
            </a:r>
            <a:r>
              <a:rPr lang="en-US" sz="1800" dirty="0" err="1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n"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 of f = 75025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8463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0A41FBF-C069-7D5C-B31E-6294F91B6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" y="1146976"/>
            <a:ext cx="8033301" cy="506908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GRAPHICAL COMPARISON BETWEEN RECURSIVE AND DYNAMIC PROGRAMMING FOR FIBONACCI PROBLEM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max_n = 25;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rec_time = zeros(1, max_n);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dp_time = zeros(1, max_n);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 = 2:max_n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tic;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fibonacci_recursive(n);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rec_time(n) = toc;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tic;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fibonacci_DP(n);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dp_time(n) = toc;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figure;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plot(2:max_n, rec_time(2:end),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'-s'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2);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hold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plot(2:max_n, dp_time(2:end),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'-o'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2);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'n'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'Computation Time (seconds)'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legend(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'Recursive'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'Dynamic Programming'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'Fibonacci: Recursive vs DP Computation Time'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F50F49E-DD5C-1904-0261-338AAF4CA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7575"/>
            <a:ext cx="12192000" cy="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2887A89-387B-DC25-CDE3-8EFD6EDCC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367" y="2099741"/>
            <a:ext cx="5847633" cy="438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801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AF8E23-92D9-E401-C8E9-5E06B6A88E01}"/>
              </a:ext>
            </a:extLst>
          </p:cNvPr>
          <p:cNvSpPr txBox="1"/>
          <p:nvPr/>
        </p:nvSpPr>
        <p:spPr>
          <a:xfrm>
            <a:off x="355601" y="321733"/>
            <a:ext cx="10693400" cy="6505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KNAPSACKER PROBLEM BY RECURSION</a:t>
            </a: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maxvalue=knapsack_recursive(weights,values,capacity,n)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%wrapper function to recall the recursive helper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base case, that is no item or no capacity left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n==0||capacity==0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maxvalue=0;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if weight of nth item is more than capacity then skip it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weights(n)&gt;capacity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maxvalue=knapsack_recursive(weights,values,capacity,n-1); 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inlude or exclude the nth item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include=values(n)+knapsack_recursive(weights,values,capacity-weights(n),n-1);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exclude =knapsack_recursive(weights,values,capacity,n-1); 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maxvalue=max(include,exclude);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weights=[95,64,23,73,50,22,6,57,40,98];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values=[89,59,23,43,100,72,44,12,7,64];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capacity=300;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n=length(weights);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maxvalue=knapsack_recursive(weights,values,capacity,n);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"maximum value is %d\n"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,maxvalue);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 value is 394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80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2054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30BF2-4727-BF2D-A821-D8F7F02D8623}"/>
              </a:ext>
            </a:extLst>
          </p:cNvPr>
          <p:cNvSpPr txBox="1"/>
          <p:nvPr/>
        </p:nvSpPr>
        <p:spPr>
          <a:xfrm>
            <a:off x="270933" y="389467"/>
            <a:ext cx="12073467" cy="582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3600" dirty="0"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KNAPSACK PROBLEM BY DYNAMIC PROGRAMMING (DP)</a:t>
            </a:r>
          </a:p>
          <a:p>
            <a:pPr marL="0" marR="0" indent="71755">
              <a:lnSpc>
                <a:spcPts val="1400"/>
              </a:lnSpc>
              <a:spcBef>
                <a:spcPts val="700"/>
              </a:spcBef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function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maxVal = knapsack_DP(W, weights, values)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n=length(values);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 = zeros(n+1, W+1); </a:t>
            </a:r>
            <a:r>
              <a:rPr lang="en-US" sz="1800" dirty="0">
                <a:solidFill>
                  <a:srgbClr val="008013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% DP table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 = 1:n+1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 = 1:W+1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 == 1 || w == 1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K(i, w) = 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elseif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weights(i-1) &lt;= (w-1)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K(i, w) = max(values(i-1) + K(i-1, w-weights(i-1)), K(i-1, w));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else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    K(i, w) = K(i-1, w);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maxVal = K(n+1, W+1);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weights=[95,64,23,73,50,22,6,57,40,98];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values=[89,59,23,43,100,72,44,12,7,64];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W=300;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maxVal=knapsack_DP(W,weights,values);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 indent="71755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fprintf(</a:t>
            </a:r>
            <a:r>
              <a:rPr lang="en-US" sz="1800" dirty="0"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"maximum value is %d\n"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,maxVal);</a:t>
            </a:r>
            <a:endParaRPr lang="en-US" sz="1800" dirty="0">
              <a:effectLst/>
              <a:latin typeface="Consolas" panose="020B0609020204030204" pitchFamily="49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212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maximum value is 394</a:t>
            </a:r>
            <a:endParaRPr lang="en-US" sz="180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06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D6CBEE-85C4-7140-E68B-808339DAC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262" y="567840"/>
            <a:ext cx="12033738" cy="507681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714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D55000"/>
                </a:solidFill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GRAPH FOR TIME COMPARISON (RECURSIVE VS DYNAMIC PROGRAMMING)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max_n = 10;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dp_time = zeros(1, max_n);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rec_time = zeros(1, max_n);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n = 2:max_n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tic;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knapsack_DP(W, weights(1:n), values(1:n));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dp_time(n) = toc;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tic;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knapsack_recursive(weights(1:n), values(1:n),capacity, n);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rec_time(n) = toc;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E00FF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figure;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plot(2:max_n, dp_time(2:end),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'-o'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2);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hold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plot(2:max_n, rec_time(2:end),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'-s'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LineWidth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2);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xlabel(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'Number of Items (n)'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ylabel(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'Computation Time (seconds)'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legend(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'Dynamic Programming'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'Recursive'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title(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'Knapsack: Recursion vs Dynamic Programming in MATLAB'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grid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709F5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;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7143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A58DBF10-9794-44DE-8F98-3959416AF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300" y="3429000"/>
            <a:ext cx="44577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87618597-ACDF-0787-1462-ECD7EDA74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00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33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2163</Words>
  <Application>Microsoft Office PowerPoint</Application>
  <PresentationFormat>Widescreen</PresentationFormat>
  <Paragraphs>291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Helvetica</vt:lpstr>
      <vt:lpstr>Office Theme</vt:lpstr>
      <vt:lpstr>RECURSIVE PROGRAMMING</vt:lpstr>
      <vt:lpstr>GROUP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EDMOND</dc:creator>
  <cp:lastModifiedBy>EDMOND</cp:lastModifiedBy>
  <cp:revision>3</cp:revision>
  <dcterms:created xsi:type="dcterms:W3CDTF">2025-10-21T17:28:36Z</dcterms:created>
  <dcterms:modified xsi:type="dcterms:W3CDTF">2025-10-21T18:29:07Z</dcterms:modified>
</cp:coreProperties>
</file>